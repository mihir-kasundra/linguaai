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Calibri (MS)" panose="020B0604020202020204" charset="0"/>
      <p:regular r:id="rId12"/>
    </p:embeddedFont>
    <p:embeddedFont>
      <p:font typeface="Cambria" panose="02040503050406030204" pitchFamily="18" charset="0"/>
      <p:regular r:id="rId13"/>
      <p:bold r:id="rId14"/>
      <p:italic r:id="rId15"/>
      <p:boldItalic r:id="rId16"/>
    </p:embeddedFont>
    <p:embeddedFont>
      <p:font typeface="Cambria Bold" panose="02040803050406030204" pitchFamily="18" charset="0"/>
      <p:regular r:id="rId17"/>
      <p:bold r:id="rId18"/>
    </p:embeddedFont>
    <p:embeddedFont>
      <p:font typeface="Times New Roman Bold" panose="02020803070505020304" pitchFamily="18" charset="0"/>
      <p:regular r:id="rId19"/>
      <p:bold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1" d="100"/>
          <a:sy n="61" d="100"/>
        </p:scale>
        <p:origin x="322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Cambria"/>
          <a:ea typeface="Cambria"/>
          <a:cs typeface="Cambria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Cambria" pitchFamily="34" charset="0"/>
        <a:buChar char="•"/>
        <a:defRPr sz="3200" kern="1200">
          <a:solidFill>
            <a:schemeClr val="tx1"/>
          </a:solidFill>
          <a:latin typeface="Cambria"/>
          <a:ea typeface="Cambria"/>
          <a:cs typeface="Cambria"/>
        </a:defRPr>
      </a:lvl1pPr>
      <a:lvl2pPr marL="742950" indent="-285750" algn="l" defTabSz="914400" rtl="0" eaLnBrk="1" latinLnBrk="0" hangingPunct="1">
        <a:spcBef>
          <a:spcPct val="20000"/>
        </a:spcBef>
        <a:buFont typeface="Cambria" pitchFamily="34" charset="0"/>
        <a:buChar char="–"/>
        <a:defRPr sz="2800" kern="1200">
          <a:solidFill>
            <a:schemeClr val="tx1"/>
          </a:solidFill>
          <a:latin typeface="Cambria"/>
          <a:ea typeface="Cambria"/>
          <a:cs typeface="Cambria"/>
        </a:defRPr>
      </a:lvl2pPr>
      <a:lvl3pPr marL="1143000" indent="-228600" algn="l" defTabSz="914400" rtl="0" eaLnBrk="1" latinLnBrk="0" hangingPunct="1">
        <a:spcBef>
          <a:spcPct val="20000"/>
        </a:spcBef>
        <a:buFont typeface="Cambria" pitchFamily="34" charset="0"/>
        <a:buChar char="•"/>
        <a:defRPr sz="2400" kern="1200">
          <a:solidFill>
            <a:schemeClr val="tx1"/>
          </a:solidFill>
          <a:latin typeface="Cambria"/>
          <a:ea typeface="Cambria"/>
          <a:cs typeface="Cambria"/>
        </a:defRPr>
      </a:lvl3pPr>
      <a:lvl4pPr marL="1600200" indent="-228600" algn="l" defTabSz="914400" rtl="0" eaLnBrk="1" latinLnBrk="0" hangingPunct="1">
        <a:spcBef>
          <a:spcPct val="20000"/>
        </a:spcBef>
        <a:buFont typeface="Cambria" pitchFamily="34" charset="0"/>
        <a:buChar char="–"/>
        <a:defRPr sz="2000" kern="1200">
          <a:solidFill>
            <a:schemeClr val="tx1"/>
          </a:solidFill>
          <a:latin typeface="Cambria"/>
          <a:ea typeface="Cambria"/>
          <a:cs typeface="Cambria"/>
        </a:defRPr>
      </a:lvl4pPr>
      <a:lvl5pPr marL="2057400" indent="-228600" algn="l" defTabSz="914400" rtl="0" eaLnBrk="1" latinLnBrk="0" hangingPunct="1">
        <a:spcBef>
          <a:spcPct val="20000"/>
        </a:spcBef>
        <a:buFont typeface="Cambria" pitchFamily="34" charset="0"/>
        <a:buChar char="»"/>
        <a:defRPr sz="2000" kern="1200">
          <a:solidFill>
            <a:schemeClr val="tx1"/>
          </a:solidFill>
          <a:latin typeface="Cambria"/>
          <a:ea typeface="Cambria"/>
          <a:cs typeface="Cambria"/>
        </a:defRPr>
      </a:lvl5pPr>
      <a:lvl6pPr marL="2514600" indent="-228600" algn="l" defTabSz="914400" rtl="0" eaLnBrk="1" latinLnBrk="0" hangingPunct="1">
        <a:spcBef>
          <a:spcPct val="20000"/>
        </a:spcBef>
        <a:buFont typeface="Cambria" pitchFamily="34" charset="0"/>
        <a:buChar char="•"/>
        <a:defRPr sz="2000" kern="1200">
          <a:solidFill>
            <a:schemeClr val="tx1"/>
          </a:solidFill>
          <a:latin typeface="Cambria"/>
          <a:ea typeface="Cambria"/>
          <a:cs typeface="Cambria"/>
        </a:defRPr>
      </a:lvl6pPr>
      <a:lvl7pPr marL="2971800" indent="-228600" algn="l" defTabSz="914400" rtl="0" eaLnBrk="1" latinLnBrk="0" hangingPunct="1">
        <a:spcBef>
          <a:spcPct val="20000"/>
        </a:spcBef>
        <a:buFont typeface="Cambria" pitchFamily="34" charset="0"/>
        <a:buChar char="•"/>
        <a:defRPr sz="2000" kern="1200">
          <a:solidFill>
            <a:schemeClr val="tx1"/>
          </a:solidFill>
          <a:latin typeface="Cambria"/>
          <a:ea typeface="Cambria"/>
          <a:cs typeface="Cambria"/>
        </a:defRPr>
      </a:lvl7pPr>
      <a:lvl8pPr marL="3429000" indent="-228600" algn="l" defTabSz="914400" rtl="0" eaLnBrk="1" latinLnBrk="0" hangingPunct="1">
        <a:spcBef>
          <a:spcPct val="20000"/>
        </a:spcBef>
        <a:buFont typeface="Cambria" pitchFamily="34" charset="0"/>
        <a:buChar char="•"/>
        <a:defRPr sz="2000" kern="1200">
          <a:solidFill>
            <a:schemeClr val="tx1"/>
          </a:solidFill>
          <a:latin typeface="Cambria"/>
          <a:ea typeface="Cambria"/>
          <a:cs typeface="Cambria"/>
        </a:defRPr>
      </a:lvl8pPr>
      <a:lvl9pPr marL="3886200" indent="-228600" algn="l" defTabSz="914400" rtl="0" eaLnBrk="1" latinLnBrk="0" hangingPunct="1">
        <a:spcBef>
          <a:spcPct val="20000"/>
        </a:spcBef>
        <a:buFont typeface="Cambria" pitchFamily="34" charset="0"/>
        <a:buChar char="•"/>
        <a:defRPr sz="2000" kern="1200">
          <a:solidFill>
            <a:schemeClr val="tx1"/>
          </a:solidFill>
          <a:latin typeface="Cambria"/>
          <a:ea typeface="Cambria"/>
          <a:cs typeface="Cambri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Cambria"/>
          <a:ea typeface="Cambria"/>
          <a:cs typeface="Cambria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Cambria"/>
          <a:ea typeface="Cambria"/>
          <a:cs typeface="Cambria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Cambria"/>
          <a:ea typeface="Cambria"/>
          <a:cs typeface="Cambria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Cambria"/>
          <a:ea typeface="Cambria"/>
          <a:cs typeface="Cambria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Cambria"/>
          <a:ea typeface="Cambria"/>
          <a:cs typeface="Cambria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Cambria"/>
          <a:ea typeface="Cambria"/>
          <a:cs typeface="Cambria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Cambria"/>
          <a:ea typeface="Cambria"/>
          <a:cs typeface="Cambria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Cambria"/>
          <a:ea typeface="Cambria"/>
          <a:cs typeface="Cambria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Cambria"/>
          <a:ea typeface="Cambria"/>
          <a:cs typeface="Cambria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oleObject" Target="../embeddings/oleObject1.bin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723583" y="0"/>
            <a:ext cx="3564407" cy="770696"/>
            <a:chOff x="0" y="0"/>
            <a:chExt cx="4752543" cy="102759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752594" cy="1027557"/>
            </a:xfrm>
            <a:custGeom>
              <a:avLst/>
              <a:gdLst/>
              <a:ahLst/>
              <a:cxnLst/>
              <a:rect l="l" t="t" r="r" b="b"/>
              <a:pathLst>
                <a:path w="4752594" h="1027557">
                  <a:moveTo>
                    <a:pt x="0" y="0"/>
                  </a:moveTo>
                  <a:lnTo>
                    <a:pt x="4752594" y="0"/>
                  </a:lnTo>
                  <a:lnTo>
                    <a:pt x="4752594" y="1027557"/>
                  </a:lnTo>
                  <a:lnTo>
                    <a:pt x="0" y="10275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" b="-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5339060" y="0"/>
            <a:ext cx="2948940" cy="853488"/>
            <a:chOff x="0" y="0"/>
            <a:chExt cx="3931920" cy="113798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931920" cy="1138047"/>
            </a:xfrm>
            <a:custGeom>
              <a:avLst/>
              <a:gdLst/>
              <a:ahLst/>
              <a:cxnLst/>
              <a:rect l="l" t="t" r="r" b="b"/>
              <a:pathLst>
                <a:path w="3931920" h="1138047">
                  <a:moveTo>
                    <a:pt x="0" y="0"/>
                  </a:moveTo>
                  <a:lnTo>
                    <a:pt x="3931920" y="0"/>
                  </a:lnTo>
                  <a:lnTo>
                    <a:pt x="3931920" y="1138047"/>
                  </a:lnTo>
                  <a:lnTo>
                    <a:pt x="0" y="11380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37" b="-3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0" y="0"/>
            <a:ext cx="18278704" cy="8608990"/>
            <a:chOff x="0" y="0"/>
            <a:chExt cx="24371605" cy="1147865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371554" cy="11478641"/>
            </a:xfrm>
            <a:custGeom>
              <a:avLst/>
              <a:gdLst/>
              <a:ahLst/>
              <a:cxnLst/>
              <a:rect l="l" t="t" r="r" b="b"/>
              <a:pathLst>
                <a:path w="24371554" h="11478641">
                  <a:moveTo>
                    <a:pt x="0" y="0"/>
                  </a:moveTo>
                  <a:lnTo>
                    <a:pt x="24371554" y="0"/>
                  </a:lnTo>
                  <a:lnTo>
                    <a:pt x="24371554" y="11478641"/>
                  </a:lnTo>
                  <a:lnTo>
                    <a:pt x="0" y="114786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1563" b="-1156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0" y="5813212"/>
            <a:ext cx="18279427" cy="4473892"/>
            <a:chOff x="0" y="0"/>
            <a:chExt cx="24372570" cy="596519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4371427" cy="5965190"/>
            </a:xfrm>
            <a:custGeom>
              <a:avLst/>
              <a:gdLst/>
              <a:ahLst/>
              <a:cxnLst/>
              <a:rect l="l" t="t" r="r" b="b"/>
              <a:pathLst>
                <a:path w="24371427" h="5965190">
                  <a:moveTo>
                    <a:pt x="0" y="5965190"/>
                  </a:moveTo>
                  <a:lnTo>
                    <a:pt x="0" y="0"/>
                  </a:lnTo>
                  <a:lnTo>
                    <a:pt x="24371427" y="0"/>
                  </a:lnTo>
                  <a:lnTo>
                    <a:pt x="24371427" y="5965063"/>
                  </a:lnTo>
                  <a:lnTo>
                    <a:pt x="0" y="5965190"/>
                  </a:lnTo>
                  <a:close/>
                </a:path>
              </a:pathLst>
            </a:custGeom>
            <a:solidFill>
              <a:srgbClr val="95373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3348487" y="0"/>
            <a:ext cx="4939494" cy="1068000"/>
            <a:chOff x="0" y="0"/>
            <a:chExt cx="6585991" cy="1424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585966" cy="1424051"/>
            </a:xfrm>
            <a:custGeom>
              <a:avLst/>
              <a:gdLst/>
              <a:ahLst/>
              <a:cxnLst/>
              <a:rect l="l" t="t" r="r" b="b"/>
              <a:pathLst>
                <a:path w="6585966" h="1424051">
                  <a:moveTo>
                    <a:pt x="0" y="0"/>
                  </a:moveTo>
                  <a:lnTo>
                    <a:pt x="6585966" y="0"/>
                  </a:lnTo>
                  <a:lnTo>
                    <a:pt x="6585966" y="1424051"/>
                  </a:lnTo>
                  <a:lnTo>
                    <a:pt x="0" y="14240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097280" y="2377440"/>
            <a:ext cx="16093440" cy="2377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4400" b="1" dirty="0">
                <a:solidFill>
                  <a:srgbClr val="632423"/>
                </a:solidFill>
                <a:latin typeface="Cambria"/>
                <a:ea typeface="Cambria"/>
                <a:cs typeface="Cambria"/>
                <a:sym typeface="Cambria"/>
              </a:rPr>
              <a:t>Advanced Programming with Project-I</a:t>
            </a:r>
          </a:p>
          <a:p>
            <a:pPr algn="ctr">
              <a:lnSpc>
                <a:spcPts val="6000"/>
              </a:lnSpc>
            </a:pPr>
            <a:r>
              <a:rPr lang="en-US" sz="4400" b="1" dirty="0">
                <a:solidFill>
                  <a:srgbClr val="632423"/>
                </a:solidFill>
                <a:latin typeface="Cambria"/>
                <a:ea typeface="Cambria"/>
                <a:cs typeface="Cambria"/>
                <a:sym typeface="Cambria"/>
              </a:rPr>
              <a:t>1010103494</a:t>
            </a:r>
          </a:p>
          <a:p>
            <a:pPr algn="ctr">
              <a:lnSpc>
                <a:spcPts val="6000"/>
              </a:lnSpc>
            </a:pPr>
            <a:r>
              <a:rPr lang="en-US" sz="4400" b="1" dirty="0">
                <a:solidFill>
                  <a:srgbClr val="632423"/>
                </a:solidFill>
                <a:latin typeface="Cambria"/>
                <a:ea typeface="Cambria"/>
                <a:cs typeface="Cambria"/>
                <a:sym typeface="Cambria"/>
              </a:rPr>
              <a:t>LinguaAI: Speech-to-Text &amp; AI-Powered Endangered Language Preservation Platform</a:t>
            </a:r>
          </a:p>
        </p:txBody>
      </p:sp>
      <p:graphicFrame>
        <p:nvGraphicFramePr>
          <p:cNvPr id="20" name="Project Details Table"/>
          <p:cNvGraphicFramePr>
            <a:graphicFrameLocks noGrp="1"/>
          </p:cNvGraphicFramePr>
          <p:nvPr/>
        </p:nvGraphicFramePr>
        <p:xfrm>
          <a:off x="2500000" y="6050000"/>
          <a:ext cx="14685000" cy="3200000"/>
        </p:xfrm>
        <a:graphic>
          <a:graphicData uri="http://schemas.openxmlformats.org/drawingml/2006/table">
            <a:tbl>
              <a:tblPr firstRow="0" bandRow="0">
                <a:tableStyleId>{59674451-553D-43D6-1609-263776A0D3FE}</a:tableStyleId>
              </a:tblPr>
              <a:tblGrid>
                <a:gridCol w="4800000"/>
                <a:gridCol w="9885000"/>
              </a:tblGrid>
              <a:tr h="550000">
                <a:tc>
                  <a:txBody>
                    <a:bodyPr lIns="91440" rIns="91440" tIns="45720" bIns="45720" anchor="ctr"/>
                    <a:lstStyle/>
                    <a:p>
                      <a:pPr algn="l"/>
                      <a:r>
                        <a:rPr lang="en-US" sz="2600" b="1">
                          <a:solidFill>
                            <a:srgbClr val="FFFFFF"/>
                          </a:solidFill>
                          <a:latin typeface="Cambria"/>
                          <a:ea typeface="Cambria"/>
                          <a:cs typeface="Cambria"/>
                        </a:rPr>
                        <a:t>Project ID</a:t>
                      </a:r>
                    </a:p>
                  </a:txBody>
                  <a:tcPr marL="91440" marR="91440" marT="45720" marB="45720">
                    <a:lnL w="12700" cmpd="s">
                      <a:solidFill>
                        <a:srgbClr val="FFFFFF"/>
                      </a:solidFill>
                    </a:lnL>
                    <a:lnR w="12700" cmpd="s">
                      <a:solidFill>
                        <a:srgbClr val="FFFFFF"/>
                      </a:solidFill>
                    </a:lnR>
                    <a:lnT w="12700" cmpd="s">
                      <a:solidFill>
                        <a:srgbClr val="FFFFFF"/>
                      </a:solidFill>
                    </a:lnT>
                    <a:lnB w="12700" cmpd="s">
                      <a:solidFill>
                        <a:srgbClr val="FFFFFF"/>
                      </a:solidFill>
                    </a:lnB>
                    <a:solidFill>
                      <a:srgbClr val="953734"/>
                    </a:solidFill>
                  </a:tcPr>
                </a:tc>
                <a:tc>
                  <a:txBody>
                    <a:bodyPr lIns="91440" rIns="91440" tIns="45720" bIns="45720" anchor="ctr"/>
                    <a:lstStyle/>
                    <a:p>
                      <a:pPr algn="l"/>
                      <a:r>
                        <a:rPr lang="en-US" sz="2600" b="0">
                          <a:solidFill>
                            <a:srgbClr val="FFFFFF"/>
                          </a:solidFill>
                          <a:latin typeface="Cambria"/>
                          <a:ea typeface="Cambria"/>
                          <a:cs typeface="Cambria"/>
                        </a:rPr>
                        <a:t/>
                      </a:r>
                    </a:p>
                  </a:txBody>
                  <a:tcPr marL="91440" marR="91440" marT="45720" marB="45720">
                    <a:lnL w="12700" cmpd="s">
                      <a:solidFill>
                        <a:srgbClr val="FFFFFF"/>
                      </a:solidFill>
                    </a:lnL>
                    <a:lnR w="12700" cmpd="s">
                      <a:solidFill>
                        <a:srgbClr val="FFFFFF"/>
                      </a:solidFill>
                    </a:lnR>
                    <a:lnT w="12700" cmpd="s">
                      <a:solidFill>
                        <a:srgbClr val="FFFFFF"/>
                      </a:solidFill>
                    </a:lnT>
                    <a:lnB w="12700" cmpd="s">
                      <a:solidFill>
                        <a:srgbClr val="FFFFFF"/>
                      </a:solidFill>
                    </a:lnB>
                    <a:solidFill>
                      <a:srgbClr val="953734"/>
                    </a:solidFill>
                  </a:tcPr>
                </a:tc>
              </a:tr>
              <a:tr h="550000">
                <a:tc>
                  <a:txBody>
                    <a:bodyPr lIns="91440" rIns="91440" tIns="45720" bIns="45720" anchor="ctr"/>
                    <a:lstStyle/>
                    <a:p>
                      <a:pPr algn="l"/>
                      <a:r>
                        <a:rPr lang="en-US" sz="2600" b="1">
                          <a:solidFill>
                            <a:srgbClr val="FFFFFF"/>
                          </a:solidFill>
                          <a:latin typeface="Cambria"/>
                          <a:ea typeface="Cambria"/>
                          <a:cs typeface="Cambria"/>
                        </a:rPr>
                        <a:t>Enrollment No</a:t>
                      </a:r>
                    </a:p>
                  </a:txBody>
                  <a:tcPr marL="91440" marR="91440" marT="45720" marB="45720">
                    <a:lnL w="12700" cmpd="s">
                      <a:solidFill>
                        <a:srgbClr val="FFFFFF"/>
                      </a:solidFill>
                    </a:lnL>
                    <a:lnR w="12700" cmpd="s">
                      <a:solidFill>
                        <a:srgbClr val="FFFFFF"/>
                      </a:solidFill>
                    </a:lnR>
                    <a:lnT w="12700" cmpd="s">
                      <a:solidFill>
                        <a:srgbClr val="FFFFFF"/>
                      </a:solidFill>
                    </a:lnT>
                    <a:lnB w="12700" cmpd="s">
                      <a:solidFill>
                        <a:srgbClr val="FFFFFF"/>
                      </a:solidFill>
                    </a:lnB>
                    <a:solidFill>
                      <a:srgbClr val="953734"/>
                    </a:solidFill>
                  </a:tcPr>
                </a:tc>
                <a:tc>
                  <a:txBody>
                    <a:bodyPr lIns="91440" rIns="91440" tIns="45720" bIns="45720" anchor="ctr"/>
                    <a:lstStyle/>
                    <a:p>
                      <a:pPr algn="l"/>
                      <a:r>
                        <a:rPr lang="en-US" sz="2600" b="0">
                          <a:solidFill>
                            <a:srgbClr val="FFFFFF"/>
                          </a:solidFill>
                          <a:latin typeface="Cambria"/>
                          <a:ea typeface="Cambria"/>
                          <a:cs typeface="Cambria"/>
                        </a:rPr>
                        <a:t/>
                      </a:r>
                    </a:p>
                  </a:txBody>
                  <a:tcPr marL="91440" marR="91440" marT="45720" marB="45720">
                    <a:lnL w="12700" cmpd="s">
                      <a:solidFill>
                        <a:srgbClr val="FFFFFF"/>
                      </a:solidFill>
                    </a:lnL>
                    <a:lnR w="12700" cmpd="s">
                      <a:solidFill>
                        <a:srgbClr val="FFFFFF"/>
                      </a:solidFill>
                    </a:lnR>
                    <a:lnT w="12700" cmpd="s">
                      <a:solidFill>
                        <a:srgbClr val="FFFFFF"/>
                      </a:solidFill>
                    </a:lnT>
                    <a:lnB w="12700" cmpd="s">
                      <a:solidFill>
                        <a:srgbClr val="FFFFFF"/>
                      </a:solidFill>
                    </a:lnB>
                    <a:solidFill>
                      <a:srgbClr val="953734"/>
                    </a:solidFill>
                  </a:tcPr>
                </a:tc>
              </a:tr>
              <a:tr h="550000">
                <a:tc>
                  <a:txBody>
                    <a:bodyPr lIns="91440" rIns="91440" tIns="45720" bIns="45720" anchor="ctr"/>
                    <a:lstStyle/>
                    <a:p>
                      <a:pPr algn="l"/>
                      <a:r>
                        <a:rPr lang="en-US" sz="2600" b="1">
                          <a:solidFill>
                            <a:srgbClr val="FFFFFF"/>
                          </a:solidFill>
                          <a:latin typeface="Cambria"/>
                          <a:ea typeface="Cambria"/>
                          <a:cs typeface="Cambria"/>
                        </a:rPr>
                        <a:t>Name</a:t>
                      </a:r>
                    </a:p>
                  </a:txBody>
                  <a:tcPr marL="91440" marR="91440" marT="45720" marB="45720">
                    <a:lnL w="12700" cmpd="s">
                      <a:solidFill>
                        <a:srgbClr val="FFFFFF"/>
                      </a:solidFill>
                    </a:lnL>
                    <a:lnR w="12700" cmpd="s">
                      <a:solidFill>
                        <a:srgbClr val="FFFFFF"/>
                      </a:solidFill>
                    </a:lnR>
                    <a:lnT w="12700" cmpd="s">
                      <a:solidFill>
                        <a:srgbClr val="FFFFFF"/>
                      </a:solidFill>
                    </a:lnT>
                    <a:lnB w="12700" cmpd="s">
                      <a:solidFill>
                        <a:srgbClr val="FFFFFF"/>
                      </a:solidFill>
                    </a:lnB>
                    <a:solidFill>
                      <a:srgbClr val="953734"/>
                    </a:solidFill>
                  </a:tcPr>
                </a:tc>
                <a:tc>
                  <a:txBody>
                    <a:bodyPr lIns="91440" rIns="91440" tIns="45720" bIns="45720" anchor="ctr"/>
                    <a:lstStyle/>
                    <a:p>
                      <a:pPr algn="l"/>
                      <a:r>
                        <a:rPr lang="en-US" sz="2600" b="0">
                          <a:solidFill>
                            <a:srgbClr val="FFFFFF"/>
                          </a:solidFill>
                          <a:latin typeface="Cambria"/>
                          <a:ea typeface="Cambria"/>
                          <a:cs typeface="Cambria"/>
                        </a:rPr>
                        <a:t/>
                      </a:r>
                    </a:p>
                  </a:txBody>
                  <a:tcPr marL="91440" marR="91440" marT="45720" marB="45720">
                    <a:lnL w="12700" cmpd="s">
                      <a:solidFill>
                        <a:srgbClr val="FFFFFF"/>
                      </a:solidFill>
                    </a:lnL>
                    <a:lnR w="12700" cmpd="s">
                      <a:solidFill>
                        <a:srgbClr val="FFFFFF"/>
                      </a:solidFill>
                    </a:lnR>
                    <a:lnT w="12700" cmpd="s">
                      <a:solidFill>
                        <a:srgbClr val="FFFFFF"/>
                      </a:solidFill>
                    </a:lnT>
                    <a:lnB w="12700" cmpd="s">
                      <a:solidFill>
                        <a:srgbClr val="FFFFFF"/>
                      </a:solidFill>
                    </a:lnB>
                    <a:solidFill>
                      <a:srgbClr val="953734"/>
                    </a:solidFill>
                  </a:tcPr>
                </a:tc>
              </a:tr>
              <a:tr h="550000">
                <a:tc>
                  <a:txBody>
                    <a:bodyPr lIns="91440" rIns="91440" tIns="45720" bIns="45720" anchor="ctr"/>
                    <a:lstStyle/>
                    <a:p>
                      <a:pPr algn="l"/>
                      <a:r>
                        <a:rPr lang="en-US" sz="2600" b="1">
                          <a:solidFill>
                            <a:srgbClr val="FFFFFF"/>
                          </a:solidFill>
                          <a:latin typeface="Cambria"/>
                          <a:ea typeface="Cambria"/>
                          <a:cs typeface="Cambria"/>
                        </a:rPr>
                        <a:t>Branch</a:t>
                      </a:r>
                    </a:p>
                  </a:txBody>
                  <a:tcPr marL="91440" marR="91440" marT="45720" marB="45720">
                    <a:lnL w="12700" cmpd="s">
                      <a:solidFill>
                        <a:srgbClr val="FFFFFF"/>
                      </a:solidFill>
                    </a:lnL>
                    <a:lnR w="12700" cmpd="s">
                      <a:solidFill>
                        <a:srgbClr val="FFFFFF"/>
                      </a:solidFill>
                    </a:lnR>
                    <a:lnT w="12700" cmpd="s">
                      <a:solidFill>
                        <a:srgbClr val="FFFFFF"/>
                      </a:solidFill>
                    </a:lnT>
                    <a:lnB w="12700" cmpd="s">
                      <a:solidFill>
                        <a:srgbClr val="FFFFFF"/>
                      </a:solidFill>
                    </a:lnB>
                    <a:solidFill>
                      <a:srgbClr val="953734"/>
                    </a:solidFill>
                  </a:tcPr>
                </a:tc>
                <a:tc>
                  <a:txBody>
                    <a:bodyPr lIns="91440" rIns="91440" tIns="45720" bIns="45720" anchor="ctr"/>
                    <a:lstStyle/>
                    <a:p>
                      <a:pPr algn="l"/>
                      <a:r>
                        <a:rPr lang="en-US" sz="2600" b="0">
                          <a:solidFill>
                            <a:srgbClr val="FFFFFF"/>
                          </a:solidFill>
                          <a:latin typeface="Cambria"/>
                          <a:ea typeface="Cambria"/>
                          <a:cs typeface="Cambria"/>
                        </a:rPr>
                        <a:t/>
                      </a:r>
                    </a:p>
                  </a:txBody>
                  <a:tcPr marL="91440" marR="91440" marT="45720" marB="45720">
                    <a:lnL w="12700" cmpd="s">
                      <a:solidFill>
                        <a:srgbClr val="FFFFFF"/>
                      </a:solidFill>
                    </a:lnL>
                    <a:lnR w="12700" cmpd="s">
                      <a:solidFill>
                        <a:srgbClr val="FFFFFF"/>
                      </a:solidFill>
                    </a:lnR>
                    <a:lnT w="12700" cmpd="s">
                      <a:solidFill>
                        <a:srgbClr val="FFFFFF"/>
                      </a:solidFill>
                    </a:lnT>
                    <a:lnB w="12700" cmpd="s">
                      <a:solidFill>
                        <a:srgbClr val="FFFFFF"/>
                      </a:solidFill>
                    </a:lnB>
                    <a:solidFill>
                      <a:srgbClr val="953734"/>
                    </a:solidFill>
                  </a:tcPr>
                </a:tc>
              </a:tr>
              <a:tr h="550000">
                <a:tc>
                  <a:txBody>
                    <a:bodyPr lIns="91440" rIns="91440" tIns="45720" bIns="45720" anchor="ctr"/>
                    <a:lstStyle/>
                    <a:p>
                      <a:pPr algn="l"/>
                      <a:r>
                        <a:rPr lang="en-US" sz="2600" b="1">
                          <a:solidFill>
                            <a:srgbClr val="FFFFFF"/>
                          </a:solidFill>
                          <a:latin typeface="Cambria"/>
                          <a:ea typeface="Cambria"/>
                          <a:cs typeface="Cambria"/>
                        </a:rPr>
                        <a:t>Guide Name</a:t>
                      </a:r>
                    </a:p>
                  </a:txBody>
                  <a:tcPr marL="91440" marR="91440" marT="45720" marB="45720">
                    <a:lnL w="12700" cmpd="s">
                      <a:solidFill>
                        <a:srgbClr val="FFFFFF"/>
                      </a:solidFill>
                    </a:lnL>
                    <a:lnR w="12700" cmpd="s">
                      <a:solidFill>
                        <a:srgbClr val="FFFFFF"/>
                      </a:solidFill>
                    </a:lnR>
                    <a:lnT w="12700" cmpd="s">
                      <a:solidFill>
                        <a:srgbClr val="FFFFFF"/>
                      </a:solidFill>
                    </a:lnT>
                    <a:lnB w="12700" cmpd="s">
                      <a:solidFill>
                        <a:srgbClr val="FFFFFF"/>
                      </a:solidFill>
                    </a:lnB>
                    <a:solidFill>
                      <a:srgbClr val="953734"/>
                    </a:solidFill>
                  </a:tcPr>
                </a:tc>
                <a:tc>
                  <a:txBody>
                    <a:bodyPr lIns="91440" rIns="91440" tIns="45720" bIns="45720" anchor="ctr"/>
                    <a:lstStyle/>
                    <a:p>
                      <a:pPr algn="l"/>
                      <a:r>
                        <a:rPr lang="en-US" sz="2600" b="0">
                          <a:solidFill>
                            <a:srgbClr val="FFFFFF"/>
                          </a:solidFill>
                          <a:latin typeface="Cambria"/>
                          <a:ea typeface="Cambria"/>
                          <a:cs typeface="Cambria"/>
                        </a:rPr>
                        <a:t/>
                      </a:r>
                    </a:p>
                  </a:txBody>
                  <a:tcPr marL="91440" marR="91440" marT="45720" marB="45720">
                    <a:lnL w="12700" cmpd="s">
                      <a:solidFill>
                        <a:srgbClr val="FFFFFF"/>
                      </a:solidFill>
                    </a:lnL>
                    <a:lnR w="12700" cmpd="s">
                      <a:solidFill>
                        <a:srgbClr val="FFFFFF"/>
                      </a:solidFill>
                    </a:lnR>
                    <a:lnT w="12700" cmpd="s">
                      <a:solidFill>
                        <a:srgbClr val="FFFFFF"/>
                      </a:solidFill>
                    </a:lnT>
                    <a:lnB w="12700" cmpd="s">
                      <a:solidFill>
                        <a:srgbClr val="FFFFFF"/>
                      </a:solidFill>
                    </a:lnB>
                    <a:solidFill>
                      <a:srgbClr val="95373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723583" y="0"/>
            <a:ext cx="3564407" cy="770696"/>
            <a:chOff x="0" y="0"/>
            <a:chExt cx="4752543" cy="102759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752594" cy="1027557"/>
            </a:xfrm>
            <a:custGeom>
              <a:avLst/>
              <a:gdLst/>
              <a:ahLst/>
              <a:cxnLst/>
              <a:rect l="l" t="t" r="r" b="b"/>
              <a:pathLst>
                <a:path w="4752594" h="1027557">
                  <a:moveTo>
                    <a:pt x="0" y="0"/>
                  </a:moveTo>
                  <a:lnTo>
                    <a:pt x="4752594" y="0"/>
                  </a:lnTo>
                  <a:lnTo>
                    <a:pt x="4752594" y="1027557"/>
                  </a:lnTo>
                  <a:lnTo>
                    <a:pt x="0" y="10275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" b="-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TextBox 4" descr="$PPTXTitle"/>
          <p:cNvSpPr txBox="1"/>
          <p:nvPr/>
        </p:nvSpPr>
        <p:spPr>
          <a:xfrm>
            <a:off x="3459099" y="707355"/>
            <a:ext cx="11369792" cy="10502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20"/>
              </a:lnSpc>
            </a:pPr>
            <a:r>
              <a:rPr lang="en-US" sz="6600" spc="-15" dirty="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Index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4128" y="2194560"/>
            <a:ext cx="15480792" cy="6949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87730" lvl="1" indent="-443865" algn="l">
              <a:lnSpc>
                <a:spcPts val="5759"/>
              </a:lnSpc>
              <a:buFont typeface="Cambria"/>
              <a:buChar char="•"/>
            </a:pPr>
            <a:r>
              <a:rPr lang="en-US" sz="4400" spc="-15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Introduction</a:t>
            </a:r>
          </a:p>
          <a:p>
            <a:pPr marL="887730" lvl="1" indent="-443865" algn="l">
              <a:lnSpc>
                <a:spcPts val="5759"/>
              </a:lnSpc>
              <a:buFont typeface="Cambria"/>
              <a:buChar char="•"/>
            </a:pPr>
            <a:r>
              <a:rPr lang="en-US" sz="4400" spc="-15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Background and Motivation</a:t>
            </a:r>
          </a:p>
          <a:p>
            <a:pPr marL="887730" lvl="1" indent="-443865" algn="l">
              <a:lnSpc>
                <a:spcPts val="5759"/>
              </a:lnSpc>
              <a:buFont typeface="Cambria"/>
              <a:buChar char="•"/>
            </a:pPr>
            <a:r>
              <a:rPr lang="en-US" sz="4400" spc="-15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Relevance and Importance</a:t>
            </a:r>
          </a:p>
          <a:p>
            <a:pPr marL="887730" lvl="1" indent="-443865" algn="l">
              <a:lnSpc>
                <a:spcPts val="5759"/>
              </a:lnSpc>
              <a:buFont typeface="Cambria"/>
              <a:buChar char="•"/>
            </a:pPr>
            <a:r>
              <a:rPr lang="en-US" sz="4400" spc="-15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Literature review</a:t>
            </a:r>
          </a:p>
          <a:p>
            <a:pPr marL="887730" lvl="1" indent="-443865" algn="l">
              <a:lnSpc>
                <a:spcPts val="5759"/>
              </a:lnSpc>
              <a:buFont typeface="Cambria"/>
              <a:buChar char="•"/>
            </a:pPr>
            <a:r>
              <a:rPr lang="en-US" sz="4400" spc="-15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Objectives</a:t>
            </a:r>
          </a:p>
          <a:p>
            <a:pPr marL="887730" lvl="1" indent="-443865" algn="l">
              <a:lnSpc>
                <a:spcPts val="5759"/>
              </a:lnSpc>
              <a:buFont typeface="Cambria"/>
              <a:buChar char="•"/>
            </a:pPr>
            <a:r>
              <a:rPr lang="en-US" sz="4400" spc="-15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Required Tools and Technology</a:t>
            </a:r>
          </a:p>
          <a:p>
            <a:pPr marL="887730" lvl="1" indent="-443865" algn="l">
              <a:lnSpc>
                <a:spcPts val="5759"/>
              </a:lnSpc>
              <a:buFont typeface="Cambria"/>
              <a:buChar char="•"/>
            </a:pPr>
            <a:r>
              <a:rPr lang="en-US" sz="4400" spc="-15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Method/ Approach</a:t>
            </a:r>
          </a:p>
          <a:p>
            <a:pPr marL="887730" lvl="1" indent="-443865" algn="l">
              <a:lnSpc>
                <a:spcPts val="5759"/>
              </a:lnSpc>
              <a:buFont typeface="Cambria"/>
              <a:buChar char="•"/>
            </a:pPr>
            <a:r>
              <a:rPr lang="en-US" sz="4400" spc="-15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Bibliography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3938" y="9617612"/>
            <a:ext cx="1103948" cy="272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pc="-30" dirty="0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rPr>
              <a:t>08-08-2026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110100" y="9617612"/>
            <a:ext cx="154305" cy="3378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-74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723583" y="0"/>
            <a:ext cx="3564407" cy="770696"/>
            <a:chOff x="0" y="0"/>
            <a:chExt cx="4752543" cy="102759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752594" cy="1027557"/>
            </a:xfrm>
            <a:custGeom>
              <a:avLst/>
              <a:gdLst/>
              <a:ahLst/>
              <a:cxnLst/>
              <a:rect l="l" t="t" r="r" b="b"/>
              <a:pathLst>
                <a:path w="4752594" h="1027557">
                  <a:moveTo>
                    <a:pt x="0" y="0"/>
                  </a:moveTo>
                  <a:lnTo>
                    <a:pt x="4752594" y="0"/>
                  </a:lnTo>
                  <a:lnTo>
                    <a:pt x="4752594" y="1027557"/>
                  </a:lnTo>
                  <a:lnTo>
                    <a:pt x="0" y="10275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" b="-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TextBox 4" descr="$PPTXTitle"/>
          <p:cNvSpPr txBox="1"/>
          <p:nvPr/>
        </p:nvSpPr>
        <p:spPr>
          <a:xfrm>
            <a:off x="3459099" y="707355"/>
            <a:ext cx="11369792" cy="10502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20"/>
              </a:lnSpc>
            </a:pPr>
            <a:r>
              <a:rPr lang="en-US" sz="6600" spc="-15" dirty="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Introduction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4128" y="2331720"/>
            <a:ext cx="15480792" cy="6766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8142" lvl="1" indent="-379071" algn="just">
              <a:lnSpc>
                <a:spcPts val="4920"/>
              </a:lnSpc>
              <a:buFont typeface="Cambria"/>
              <a:buChar char="•"/>
            </a:pPr>
            <a:r>
              <a:rPr lang="en-US" sz="3800" spc="-12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Endangered languages face imminent extinction due to declining native speakers, globalization, and a severe lack of digital preservation tools.</a:t>
            </a:r>
          </a:p>
          <a:p>
            <a:pPr marL="758142" lvl="1" indent="-379071" algn="just">
              <a:lnSpc>
                <a:spcPts val="4920"/>
              </a:lnSpc>
              <a:buFont typeface="Cambria"/>
              <a:buChar char="•"/>
            </a:pPr>
            <a:r>
              <a:rPr lang="en-US" sz="3800" spc="-12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LinguaAI is an AI-assisted web platform designed for automated speech-to-text transcription, translation, and digital archiving of endangered and regional languages.</a:t>
            </a:r>
          </a:p>
          <a:p>
            <a:pPr marL="758142" lvl="1" indent="-379071" algn="just">
              <a:lnSpc>
                <a:spcPts val="4920"/>
              </a:lnSpc>
              <a:buFont typeface="Cambria"/>
              <a:buChar char="•"/>
            </a:pPr>
            <a:r>
              <a:rPr lang="en-US" sz="3800" spc="-12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The platform integrates real-time Web Speech API recognition, custom language database management, analytics dashboards, and interactive admin control panel.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3938" y="9690621"/>
            <a:ext cx="1103948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160"/>
              </a:lnSpc>
            </a:pPr>
            <a:r>
              <a:rPr lang="en-US" spc="-30" dirty="0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rPr>
              <a:t>08-08-2026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056995" y="9408204"/>
            <a:ext cx="7385685" cy="8118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15"/>
              </a:lnSpc>
            </a:pPr>
            <a:r>
              <a:rPr lang="en-US" sz="27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DEPARTMENT OF COMPUTER ENGINEERING</a:t>
            </a:r>
          </a:p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*Proprietary material of SILVER OAK UNIVERSITY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6994391" y="9690621"/>
            <a:ext cx="327317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59"/>
              </a:lnSpc>
            </a:pPr>
            <a:r>
              <a:rPr lang="en-US" sz="1800" spc="-74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723583" y="0"/>
            <a:ext cx="3564407" cy="770696"/>
            <a:chOff x="0" y="0"/>
            <a:chExt cx="4752543" cy="102759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752594" cy="1027557"/>
            </a:xfrm>
            <a:custGeom>
              <a:avLst/>
              <a:gdLst/>
              <a:ahLst/>
              <a:cxnLst/>
              <a:rect l="l" t="t" r="r" b="b"/>
              <a:pathLst>
                <a:path w="4752594" h="1027557">
                  <a:moveTo>
                    <a:pt x="0" y="0"/>
                  </a:moveTo>
                  <a:lnTo>
                    <a:pt x="4752594" y="0"/>
                  </a:lnTo>
                  <a:lnTo>
                    <a:pt x="4752594" y="1027557"/>
                  </a:lnTo>
                  <a:lnTo>
                    <a:pt x="0" y="10275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" b="-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TextBox 4" descr="$PPTXTitle"/>
          <p:cNvSpPr txBox="1"/>
          <p:nvPr/>
        </p:nvSpPr>
        <p:spPr>
          <a:xfrm>
            <a:off x="3459099" y="707355"/>
            <a:ext cx="11369792" cy="10502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20"/>
              </a:lnSpc>
            </a:pPr>
            <a:r>
              <a:rPr lang="en-US" sz="6600" dirty="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Background and Motivation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4128" y="2331720"/>
            <a:ext cx="15480792" cy="6766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02673" lvl="1" indent="-351336" algn="l">
              <a:lnSpc>
                <a:spcPts val="4560"/>
              </a:lnSpc>
              <a:buFont typeface="Cambria"/>
              <a:buChar char="•"/>
            </a:pPr>
            <a:r>
              <a:rPr lang="en-US" sz="3400" dirty="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Over 3,000 endangered languages worldwide lack digital documentation, leading to irreversible loss of cultural heritage and linguistic diversity.</a:t>
            </a:r>
          </a:p>
          <a:p>
            <a:pPr marL="702673" lvl="1" indent="-351336" algn="l">
              <a:lnSpc>
                <a:spcPts val="4560"/>
              </a:lnSpc>
              <a:buFont typeface="Cambria"/>
              <a:buChar char="•"/>
            </a:pPr>
            <a:r>
              <a:rPr lang="en-US" sz="3400" dirty="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Traditional documentation relies on manual field notes and audio recordings, which are slow, inaccessible, and difficult to search or analyze.</a:t>
            </a:r>
          </a:p>
          <a:p>
            <a:pPr marL="702673" lvl="1" indent="-351336" algn="l">
              <a:lnSpc>
                <a:spcPts val="4560"/>
              </a:lnSpc>
              <a:buFont typeface="Cambria"/>
              <a:buChar char="•"/>
            </a:pPr>
            <a:r>
              <a:rPr lang="en-US" sz="3400" dirty="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Existing speech-to-text tools primarily target dominant global languages (English, Spanish, Mandarin), completely neglecting minority and regional dialects.</a:t>
            </a:r>
          </a:p>
          <a:p>
            <a:pPr marL="702673" lvl="1" indent="-351336" algn="l">
              <a:lnSpc>
                <a:spcPts val="4560"/>
              </a:lnSpc>
              <a:buFont typeface="Cambria"/>
              <a:buChar char="•"/>
            </a:pPr>
            <a:r>
              <a:rPr lang="en-US" sz="3400" dirty="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Motivation: Build an accessible, real-time Web-based platform to transcribe, catalog, manage, and preserve endangered languages with administrative oversight and analytics.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3938" y="9690621"/>
            <a:ext cx="1103948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160"/>
              </a:lnSpc>
            </a:pPr>
            <a:r>
              <a:rPr lang="en-US" spc="-30" dirty="0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rPr>
              <a:t>08-08-2026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056995" y="9408204"/>
            <a:ext cx="7385685" cy="8118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15"/>
              </a:lnSpc>
            </a:pPr>
            <a:r>
              <a:rPr lang="en-US" sz="27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DEPARTMENT OF COMPUTER ENGINEERING</a:t>
            </a:r>
          </a:p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*Proprietary material of SILVER OAK UNIVERSITY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6994391" y="9690621"/>
            <a:ext cx="327317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59"/>
              </a:lnSpc>
            </a:pPr>
            <a:r>
              <a:rPr lang="en-US" sz="1800" spc="-74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723583" y="0"/>
            <a:ext cx="3564407" cy="770696"/>
            <a:chOff x="0" y="0"/>
            <a:chExt cx="4752543" cy="102759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752594" cy="1027557"/>
            </a:xfrm>
            <a:custGeom>
              <a:avLst/>
              <a:gdLst/>
              <a:ahLst/>
              <a:cxnLst/>
              <a:rect l="l" t="t" r="r" b="b"/>
              <a:pathLst>
                <a:path w="4752594" h="1027557">
                  <a:moveTo>
                    <a:pt x="0" y="0"/>
                  </a:moveTo>
                  <a:lnTo>
                    <a:pt x="4752594" y="0"/>
                  </a:lnTo>
                  <a:lnTo>
                    <a:pt x="4752594" y="1027557"/>
                  </a:lnTo>
                  <a:lnTo>
                    <a:pt x="0" y="10275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" b="-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TextBox 4" descr="$PPTXTitle"/>
          <p:cNvSpPr txBox="1"/>
          <p:nvPr/>
        </p:nvSpPr>
        <p:spPr>
          <a:xfrm>
            <a:off x="3459099" y="707355"/>
            <a:ext cx="11369792" cy="10502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20"/>
              </a:lnSpc>
            </a:pPr>
            <a:r>
              <a:rPr lang="en-US" sz="6600" dirty="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Relevance and Importance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4128" y="2331720"/>
            <a:ext cx="15480792" cy="6766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01705" lvl="1" indent="-350853" algn="just">
              <a:lnSpc>
                <a:spcPts val="4560"/>
              </a:lnSpc>
              <a:buFont typeface="Cambria"/>
              <a:buChar char="•"/>
            </a:pPr>
            <a:r>
              <a:rPr lang="en-US" sz="38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New Insight: A unified web architecture combining browser-level Web Speech recognition with MySQL relational indexing for real-time multilingual transcription archiving.</a:t>
            </a:r>
          </a:p>
          <a:p>
            <a:pPr marL="701705" lvl="1" indent="-350853" algn="just">
              <a:lnSpc>
                <a:spcPts val="4560"/>
              </a:lnSpc>
              <a:buFont typeface="Cambria"/>
              <a:buChar char="•"/>
            </a:pPr>
            <a:r>
              <a:rPr lang="en-US" sz="38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Relevant to: Linguists, cultural researchers, educational institutions, language revival groups, and government cultural departments.</a:t>
            </a:r>
          </a:p>
          <a:p>
            <a:pPr marL="701705" lvl="1" indent="-350853" algn="just">
              <a:lnSpc>
                <a:spcPts val="4560"/>
              </a:lnSpc>
              <a:buFont typeface="Cambria"/>
              <a:buChar char="•"/>
            </a:pPr>
            <a:r>
              <a:rPr lang="en-US" sz="38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Why it matters: Digital preservation enables real-time acoustic transcription, searchable transcript archives, language status tracking, and secure role-based administrative control.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3938" y="9690621"/>
            <a:ext cx="1103948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160"/>
              </a:lnSpc>
            </a:pPr>
            <a:r>
              <a:rPr lang="en-US" spc="-30" dirty="0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rPr>
              <a:t>08-08-2026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056995" y="9408204"/>
            <a:ext cx="7385685" cy="8118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15"/>
              </a:lnSpc>
            </a:pPr>
            <a:r>
              <a:rPr lang="en-US" sz="27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DEPARTMENT OF COMPUTER ENGINEERING</a:t>
            </a:r>
          </a:p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*Proprietary material of SILVER OAK UNIVERSITY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6994391" y="9690621"/>
            <a:ext cx="327317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59"/>
              </a:lnSpc>
            </a:pPr>
            <a:r>
              <a:rPr lang="en-US" sz="1800" spc="-74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723583" y="0"/>
            <a:ext cx="3564407" cy="770696"/>
            <a:chOff x="0" y="0"/>
            <a:chExt cx="4752543" cy="102759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752594" cy="1027557"/>
            </a:xfrm>
            <a:custGeom>
              <a:avLst/>
              <a:gdLst/>
              <a:ahLst/>
              <a:cxnLst/>
              <a:rect l="l" t="t" r="r" b="b"/>
              <a:pathLst>
                <a:path w="4752594" h="1027557">
                  <a:moveTo>
                    <a:pt x="0" y="0"/>
                  </a:moveTo>
                  <a:lnTo>
                    <a:pt x="4752594" y="0"/>
                  </a:lnTo>
                  <a:lnTo>
                    <a:pt x="4752594" y="1027557"/>
                  </a:lnTo>
                  <a:lnTo>
                    <a:pt x="0" y="10275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" b="-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TextBox 4" descr="$PPTXTitle"/>
          <p:cNvSpPr txBox="1"/>
          <p:nvPr/>
        </p:nvSpPr>
        <p:spPr>
          <a:xfrm>
            <a:off x="3459104" y="663573"/>
            <a:ext cx="11369792" cy="10502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20"/>
              </a:lnSpc>
            </a:pPr>
            <a:r>
              <a:rPr lang="en-US" sz="6600" dirty="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Literature Review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4128" y="2331720"/>
            <a:ext cx="15480792" cy="6766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01705" lvl="1" indent="-350853" algn="l">
              <a:lnSpc>
                <a:spcPts val="4560"/>
              </a:lnSpc>
              <a:buFont typeface="Cambria"/>
              <a:buChar char="•"/>
            </a:pPr>
            <a:r>
              <a:rPr lang="en-US" sz="30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Traditional Linguistic Archiving (e.g., ELAR, DOBES): Focuses on static audio/video storage; lacks real-time automated transcription and web accessibility [1].</a:t>
            </a:r>
          </a:p>
          <a:p>
            <a:pPr marL="701705" lvl="1" indent="-350853" algn="l">
              <a:lnSpc>
                <a:spcPts val="4560"/>
              </a:lnSpc>
              <a:buFont typeface="Cambria"/>
              <a:buChar char="•"/>
            </a:pPr>
            <a:r>
              <a:rPr lang="en-US" sz="30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Commercial Automatic Speech Recognition (ASR) (Google Cloud, IBM Watson): High accuracy for major languages, but limited API support for low-resource endangered languages [2].</a:t>
            </a:r>
          </a:p>
          <a:p>
            <a:pPr marL="701705" lvl="1" indent="-350853" algn="l">
              <a:lnSpc>
                <a:spcPts val="4560"/>
              </a:lnSpc>
              <a:buFont typeface="Cambria"/>
              <a:buChar char="•"/>
            </a:pPr>
            <a:r>
              <a:rPr lang="en-US" sz="30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Web Speech API &amp; Browser-Based ASR: Provides zero-latency, cross-platform voice recognition via BCP-47 language tags directly in browser environments [3][4].</a:t>
            </a:r>
          </a:p>
          <a:p>
            <a:pPr marL="701705" lvl="1" indent="-350853" algn="l">
              <a:lnSpc>
                <a:spcPts val="4560"/>
              </a:lnSpc>
              <a:buFont typeface="Cambria"/>
              <a:buChar char="•"/>
            </a:pPr>
            <a:r>
              <a:rPr lang="en-US" sz="30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Database &amp; Analytics Architectures for Linguistics: Relational schemas (MySQL) combined with real-time character/word count indexing optimize query speeds for speech corpora [5].</a:t>
            </a:r>
          </a:p>
          <a:p>
            <a:pPr marL="701705" lvl="1" indent="-350853" algn="l">
              <a:lnSpc>
                <a:spcPts val="4560"/>
              </a:lnSpc>
              <a:buFont typeface="Cambria"/>
              <a:buChar char="•"/>
            </a:pPr>
            <a:r>
              <a:rPr lang="en-US" sz="30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Research gap: Existing platforms either lack web-based real-time speech transcription or lack integrated administrative management for endangered language status tracking.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3938" y="9690621"/>
            <a:ext cx="1103948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160"/>
              </a:lnSpc>
            </a:pPr>
            <a:r>
              <a:rPr lang="en-US" spc="-30" dirty="0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rPr>
              <a:t>08-08-2026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056995" y="9408204"/>
            <a:ext cx="7385685" cy="8118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15"/>
              </a:lnSpc>
            </a:pPr>
            <a:r>
              <a:rPr lang="en-US" sz="27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DEPARTMENT OF COMPUTER ENGINEERING</a:t>
            </a:r>
          </a:p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*Proprietary material of SILVER OAK UNIVERSITY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6994391" y="9690621"/>
            <a:ext cx="327317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59"/>
              </a:lnSpc>
            </a:pPr>
            <a:r>
              <a:rPr lang="en-US" sz="1800" spc="-74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723583" y="0"/>
            <a:ext cx="3564407" cy="770696"/>
            <a:chOff x="0" y="0"/>
            <a:chExt cx="4752543" cy="102759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752594" cy="1027557"/>
            </a:xfrm>
            <a:custGeom>
              <a:avLst/>
              <a:gdLst/>
              <a:ahLst/>
              <a:cxnLst/>
              <a:rect l="l" t="t" r="r" b="b"/>
              <a:pathLst>
                <a:path w="4752594" h="1027557">
                  <a:moveTo>
                    <a:pt x="0" y="0"/>
                  </a:moveTo>
                  <a:lnTo>
                    <a:pt x="4752594" y="0"/>
                  </a:lnTo>
                  <a:lnTo>
                    <a:pt x="4752594" y="1027557"/>
                  </a:lnTo>
                  <a:lnTo>
                    <a:pt x="0" y="10275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" b="-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TextBox 4" descr="$PPTXTitle"/>
          <p:cNvSpPr txBox="1"/>
          <p:nvPr/>
        </p:nvSpPr>
        <p:spPr>
          <a:xfrm>
            <a:off x="3459099" y="707355"/>
            <a:ext cx="11369792" cy="10502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20"/>
              </a:lnSpc>
            </a:pPr>
            <a:r>
              <a:rPr lang="en-US" sz="6600" spc="-15" dirty="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Objectives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4128" y="2331720"/>
            <a:ext cx="15480792" cy="6766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01705" lvl="1" indent="-350853" algn="l">
              <a:lnSpc>
                <a:spcPts val="4560"/>
              </a:lnSpc>
              <a:buFont typeface="Cambria"/>
              <a:buChar char="•"/>
            </a:pPr>
            <a:r>
              <a:rPr lang="en-US" sz="32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Design and implement a responsive web application for real-time speech-to-text transcription.</a:t>
            </a:r>
          </a:p>
          <a:p>
            <a:pPr marL="701705" lvl="1" indent="-350853" algn="l">
              <a:lnSpc>
                <a:spcPts val="4560"/>
              </a:lnSpc>
              <a:buFont typeface="Cambria"/>
              <a:buChar char="•"/>
            </a:pPr>
            <a:r>
              <a:rPr lang="en-US" sz="32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Create a centralized MySQL database schema to store users, endangered language metadata, transcriptions, and messages.</a:t>
            </a:r>
          </a:p>
          <a:p>
            <a:pPr marL="701705" lvl="1" indent="-350853" algn="l">
              <a:lnSpc>
                <a:spcPts val="4560"/>
              </a:lnSpc>
              <a:buFont typeface="Cambria"/>
              <a:buChar char="•"/>
            </a:pPr>
            <a:r>
              <a:rPr lang="en-US" sz="32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Integrate Web Speech API supporting dynamic BCP-47 language selection and active status toggling.</a:t>
            </a:r>
          </a:p>
          <a:p>
            <a:pPr marL="701705" lvl="1" indent="-350853" algn="l">
              <a:lnSpc>
                <a:spcPts val="4560"/>
              </a:lnSpc>
              <a:buFont typeface="Cambria"/>
              <a:buChar char="•"/>
            </a:pPr>
            <a:r>
              <a:rPr lang="en-US" sz="32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Implement role-based access control with secure authentication and admin dashboard management.</a:t>
            </a:r>
          </a:p>
          <a:p>
            <a:pPr marL="701705" lvl="1" indent="-350853" algn="l">
              <a:lnSpc>
                <a:spcPts val="4560"/>
              </a:lnSpc>
              <a:buFont typeface="Cambria"/>
              <a:buChar char="•"/>
            </a:pPr>
            <a:r>
              <a:rPr lang="en-US" sz="32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Provide real-time analytics, character/word metrics, and CSV data export capabilities.</a:t>
            </a:r>
          </a:p>
          <a:p>
            <a:pPr marL="701705" lvl="1" indent="-350853" algn="l">
              <a:lnSpc>
                <a:spcPts val="4560"/>
              </a:lnSpc>
              <a:buFont typeface="Cambria"/>
              <a:buChar char="•"/>
            </a:pPr>
            <a:r>
              <a:rPr lang="en-US" sz="32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Deploy and test the system across multiple browsers for latency, accuracy, and accessibility.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3938" y="9690621"/>
            <a:ext cx="1103948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160"/>
              </a:lnSpc>
            </a:pPr>
            <a:r>
              <a:rPr lang="en-US" spc="-30" dirty="0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rPr>
              <a:t>08-08-2026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056995" y="9408204"/>
            <a:ext cx="7385685" cy="8118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15"/>
              </a:lnSpc>
            </a:pPr>
            <a:r>
              <a:rPr lang="en-US" sz="27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DEPARTMENT OF COMPUTER ENGINEERING</a:t>
            </a:r>
          </a:p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*Proprietary material of SILVER OAK UNIVERSITY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6994391" y="9690621"/>
            <a:ext cx="327317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59"/>
              </a:lnSpc>
            </a:pPr>
            <a:r>
              <a:rPr lang="en-US" sz="1800" spc="-74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723583" y="0"/>
            <a:ext cx="3564407" cy="770696"/>
            <a:chOff x="0" y="0"/>
            <a:chExt cx="4752543" cy="102759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752594" cy="1027557"/>
            </a:xfrm>
            <a:custGeom>
              <a:avLst/>
              <a:gdLst/>
              <a:ahLst/>
              <a:cxnLst/>
              <a:rect l="l" t="t" r="r" b="b"/>
              <a:pathLst>
                <a:path w="4752594" h="1027557">
                  <a:moveTo>
                    <a:pt x="0" y="0"/>
                  </a:moveTo>
                  <a:lnTo>
                    <a:pt x="4752594" y="0"/>
                  </a:lnTo>
                  <a:lnTo>
                    <a:pt x="4752594" y="1027557"/>
                  </a:lnTo>
                  <a:lnTo>
                    <a:pt x="0" y="10275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" b="-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TextBox 4" descr="$PPTXTitle"/>
          <p:cNvSpPr txBox="1"/>
          <p:nvPr/>
        </p:nvSpPr>
        <p:spPr>
          <a:xfrm>
            <a:off x="3459099" y="707355"/>
            <a:ext cx="11369792" cy="10502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20"/>
              </a:lnSpc>
            </a:pPr>
            <a:r>
              <a:rPr lang="en-US" sz="6600" dirty="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Required Tools and Technology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4128" y="2331720"/>
            <a:ext cx="15480792" cy="6766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01701" lvl="1" indent="-350850" algn="l">
              <a:lnSpc>
                <a:spcPts val="4560"/>
              </a:lnSpc>
              <a:buFont typeface="Cambria"/>
              <a:buChar char="•"/>
            </a:pPr>
            <a:r>
              <a:rPr lang="en-US" sz="32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Programming Language: JavaScript (ES6+), PHP 8.x, HTML5, CSS3</a:t>
            </a:r>
          </a:p>
          <a:p>
            <a:pPr marL="701701" lvl="1" indent="-350850" algn="l">
              <a:lnSpc>
                <a:spcPts val="4560"/>
              </a:lnSpc>
              <a:buFont typeface="Cambria"/>
              <a:buChar char="•"/>
            </a:pPr>
            <a:r>
              <a:rPr lang="en-US" sz="32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Database: MySQL / MariaDB (Relational schema with language &amp; transcription indexing)</a:t>
            </a:r>
          </a:p>
          <a:p>
            <a:pPr marL="701701" lvl="1" indent="-350850" algn="l">
              <a:lnSpc>
                <a:spcPts val="4560"/>
              </a:lnSpc>
              <a:buFont typeface="Cambria"/>
              <a:buChar char="•"/>
            </a:pPr>
            <a:r>
              <a:rPr lang="en-US" sz="32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Speech &amp; Web APIs: Web Speech API (SpeechRecognition engine, BCP-47 language codes)</a:t>
            </a:r>
          </a:p>
          <a:p>
            <a:pPr marL="701701" lvl="1" indent="-350850" algn="l">
              <a:lnSpc>
                <a:spcPts val="4560"/>
              </a:lnSpc>
              <a:buFont typeface="Cambria"/>
              <a:buChar char="•"/>
            </a:pPr>
            <a:r>
              <a:rPr lang="en-US" sz="32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Server &amp; Environment: XAMPP / Apache Web Server, AJAX / Fetch API</a:t>
            </a:r>
          </a:p>
          <a:p>
            <a:pPr marL="701701" lvl="1" indent="-350850" algn="l">
              <a:lnSpc>
                <a:spcPts val="4560"/>
              </a:lnSpc>
              <a:buFont typeface="Cambria"/>
              <a:buChar char="•"/>
            </a:pPr>
            <a:r>
              <a:rPr lang="en-US" sz="32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Development &amp; Version Control: VS Code, Git &amp; GitHub, Node.js</a:t>
            </a:r>
          </a:p>
          <a:p>
            <a:pPr marL="701701" lvl="1" indent="-350850" algn="l">
              <a:lnSpc>
                <a:spcPts val="4560"/>
              </a:lnSpc>
              <a:buFont typeface="Cambria"/>
              <a:buChar char="•"/>
            </a:pPr>
            <a:r>
              <a:rPr lang="en-US" sz="32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Deployment &amp; Export: Local XAMPP Web Deployment, CSV Data Exporter, System Analytics Engine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3938" y="9690621"/>
            <a:ext cx="1103948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160"/>
              </a:lnSpc>
            </a:pPr>
            <a:r>
              <a:rPr lang="en-US" spc="-30" dirty="0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rPr>
              <a:t>08-08-2026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056995" y="9408204"/>
            <a:ext cx="7385685" cy="8118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15"/>
              </a:lnSpc>
            </a:pPr>
            <a:r>
              <a:rPr lang="en-US" sz="27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DEPARTMENT OF COMPUTER ENGINEERING</a:t>
            </a:r>
          </a:p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*Proprietary material of SILVER OAK UNIVERSITY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6994391" y="9690621"/>
            <a:ext cx="327317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59"/>
              </a:lnSpc>
            </a:pPr>
            <a:r>
              <a:rPr lang="en-US" sz="1800" spc="-74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723583" y="0"/>
            <a:ext cx="3564407" cy="770696"/>
            <a:chOff x="0" y="0"/>
            <a:chExt cx="4752543" cy="102759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752594" cy="1027557"/>
            </a:xfrm>
            <a:custGeom>
              <a:avLst/>
              <a:gdLst/>
              <a:ahLst/>
              <a:cxnLst/>
              <a:rect l="l" t="t" r="r" b="b"/>
              <a:pathLst>
                <a:path w="4752594" h="1027557">
                  <a:moveTo>
                    <a:pt x="0" y="0"/>
                  </a:moveTo>
                  <a:lnTo>
                    <a:pt x="4752594" y="0"/>
                  </a:lnTo>
                  <a:lnTo>
                    <a:pt x="4752594" y="1027557"/>
                  </a:lnTo>
                  <a:lnTo>
                    <a:pt x="0" y="10275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" b="-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TextBox 4" descr="$PPTXTitle"/>
          <p:cNvSpPr txBox="1"/>
          <p:nvPr/>
        </p:nvSpPr>
        <p:spPr>
          <a:xfrm>
            <a:off x="3459099" y="707355"/>
            <a:ext cx="11369792" cy="10502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20"/>
              </a:lnSpc>
            </a:pPr>
            <a:r>
              <a:rPr lang="en-US" sz="6600" spc="-15" dirty="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Method/ Approach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4128" y="2331720"/>
            <a:ext cx="15480792" cy="6766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01701" lvl="1" indent="-350850" algn="l">
              <a:lnSpc>
                <a:spcPts val="4560"/>
              </a:lnSpc>
              <a:buFont typeface="Cambria"/>
              <a:buChar char="•"/>
            </a:pPr>
            <a:r>
              <a:rPr lang="en-US" sz="2800" b="1" spc="-11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System Architecture: Client-server architecture with PHP backend processing AJAX requests and interfacing with MySQL database.</a:t>
            </a:r>
          </a:p>
          <a:p>
            <a:pPr marL="701701" lvl="1" indent="-350850" algn="l">
              <a:lnSpc>
                <a:spcPts val="4560"/>
              </a:lnSpc>
              <a:buFont typeface="Cambria"/>
              <a:buChar char="•"/>
            </a:pPr>
            <a:r>
              <a:rPr lang="en-US" sz="2800" b="1" spc="-11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Speech Processing Pipeline: Capture microphone input via Web Speech API, perform real-time speech-to-text tokenization, and compute word/character metrics.</a:t>
            </a:r>
          </a:p>
          <a:p>
            <a:pPr marL="701701" lvl="1" indent="-350850" algn="l">
              <a:lnSpc>
                <a:spcPts val="4560"/>
              </a:lnSpc>
              <a:buFont typeface="Cambria"/>
              <a:buChar char="•"/>
            </a:pPr>
            <a:r>
              <a:rPr lang="en-US" sz="2800" b="1" spc="-11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Database Schema Design: Define relational tables for users, languages, recognition_languages, transcriptions, and messages with foreign key constraints.</a:t>
            </a:r>
          </a:p>
          <a:p>
            <a:pPr marL="701701" lvl="1" indent="-350850" algn="l">
              <a:lnSpc>
                <a:spcPts val="4560"/>
              </a:lnSpc>
              <a:buFont typeface="Cambria"/>
              <a:buChar char="•"/>
            </a:pPr>
            <a:r>
              <a:rPr lang="en-US" sz="2800" b="1" spc="-11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Admin Panel &amp; Analytics: Implement secure admin login, language status management, transcript review, and system usage analytics.</a:t>
            </a:r>
          </a:p>
          <a:p>
            <a:pPr marL="701701" lvl="1" indent="-350850" algn="l">
              <a:lnSpc>
                <a:spcPts val="4560"/>
              </a:lnSpc>
              <a:buFont typeface="Cambria"/>
              <a:buChar char="•"/>
            </a:pPr>
            <a:r>
              <a:rPr lang="en-US" sz="2800" b="1" spc="-11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Security &amp; Validation: Enforce input sanitization, password hashing, session isolation, and structured error logging.</a:t>
            </a:r>
          </a:p>
          <a:p>
            <a:pPr marL="701701" lvl="1" indent="-350850" algn="l">
              <a:lnSpc>
                <a:spcPts val="4560"/>
              </a:lnSpc>
              <a:buFont typeface="Cambria"/>
              <a:buChar char="•"/>
            </a:pPr>
            <a:r>
              <a:rPr lang="en-US" sz="2800" b="1" spc="-11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Testing &amp; Deployment: Conduct unit testing (TC-01 to TC-06), AJAX latency testing, and local XAMPP deployment.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3938" y="9690621"/>
            <a:ext cx="1103948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160"/>
              </a:lnSpc>
            </a:pPr>
            <a:r>
              <a:rPr lang="en-US" spc="-30" dirty="0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rPr>
              <a:t>08-08-2026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056995" y="9408204"/>
            <a:ext cx="7385685" cy="8118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15"/>
              </a:lnSpc>
            </a:pPr>
            <a:r>
              <a:rPr lang="en-US" sz="27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DEPARTMENT OF COMPUTER ENGINEERING</a:t>
            </a:r>
          </a:p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*Proprietary material of SILVER OAK UNIVERSITY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6994391" y="9690621"/>
            <a:ext cx="327317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59"/>
              </a:lnSpc>
            </a:pPr>
            <a:r>
              <a:rPr lang="en-US" sz="1800" spc="-74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723583" y="0"/>
            <a:ext cx="3564407" cy="770696"/>
            <a:chOff x="0" y="0"/>
            <a:chExt cx="4752543" cy="102759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752594" cy="1027557"/>
            </a:xfrm>
            <a:custGeom>
              <a:avLst/>
              <a:gdLst/>
              <a:ahLst/>
              <a:cxnLst/>
              <a:rect l="l" t="t" r="r" b="b"/>
              <a:pathLst>
                <a:path w="4752594" h="1027557">
                  <a:moveTo>
                    <a:pt x="0" y="0"/>
                  </a:moveTo>
                  <a:lnTo>
                    <a:pt x="4752594" y="0"/>
                  </a:lnTo>
                  <a:lnTo>
                    <a:pt x="4752594" y="1027557"/>
                  </a:lnTo>
                  <a:lnTo>
                    <a:pt x="0" y="10275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" b="-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TextBox 4" descr="$PPTXTitle"/>
          <p:cNvSpPr txBox="1"/>
          <p:nvPr/>
        </p:nvSpPr>
        <p:spPr>
          <a:xfrm>
            <a:off x="3459099" y="707355"/>
            <a:ext cx="11369792" cy="10502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20"/>
              </a:lnSpc>
            </a:pPr>
            <a:r>
              <a:rPr lang="en-US" sz="6600" spc="-15" dirty="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Bibliography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4128" y="2331720"/>
            <a:ext cx="15480792" cy="6766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53980" lvl="1" indent="-276990" algn="just">
              <a:lnSpc>
                <a:spcPts val="3600"/>
              </a:lnSpc>
              <a:buFont typeface="Cambria"/>
              <a:buChar char="•"/>
            </a:pPr>
            <a:r>
              <a:rPr lang="en-US" sz="2600" dirty="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[1] P. K. Austin and J. Sallabank, "The Cambridge Handbook of Endangered Languages," Cambridge University Press, 2011.</a:t>
            </a:r>
          </a:p>
          <a:p>
            <a:pPr marL="553980" lvl="1" indent="-276990" algn="just">
              <a:lnSpc>
                <a:spcPts val="3600"/>
              </a:lnSpc>
              <a:buFont typeface="Cambria"/>
              <a:buChar char="•"/>
            </a:pPr>
            <a:r>
              <a:rPr lang="en-US" sz="2600" dirty="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[2] A. Baevski, Y. Zhou, A. Mohamed, and M. Auli, "wav2vec 2.0: A framework for self-supervised learning of speech representations," Advances in Neural Information Processing Systems, vol. 33, 2020.</a:t>
            </a:r>
          </a:p>
          <a:p>
            <a:pPr marL="553980" lvl="1" indent="-276990" algn="just">
              <a:lnSpc>
                <a:spcPts val="3600"/>
              </a:lnSpc>
              <a:buFont typeface="Cambria"/>
              <a:buChar char="•"/>
            </a:pPr>
            <a:r>
              <a:rPr lang="en-US" sz="2600" dirty="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[3] W3C, "Web Speech API Specification," W3C Community Group Report, [Online]. Available: https://w3c.github.io/speech-api/</a:t>
            </a:r>
          </a:p>
          <a:p>
            <a:pPr marL="553980" lvl="1" indent="-276990" algn="just">
              <a:lnSpc>
                <a:spcPts val="3600"/>
              </a:lnSpc>
              <a:buFont typeface="Cambria"/>
              <a:buChar char="•"/>
            </a:pPr>
            <a:r>
              <a:rPr lang="en-US" sz="2600" dirty="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[4] M. C. Bird, "Local language technology: Infrastructure for low-resource languages," Computational Linguistics, vol. 37, no. 2, pp. 325-349, 2011.</a:t>
            </a:r>
          </a:p>
          <a:p>
            <a:pPr marL="553980" lvl="1" indent="-276990" algn="just">
              <a:lnSpc>
                <a:spcPts val="3600"/>
              </a:lnSpc>
              <a:buFont typeface="Cambria"/>
              <a:buChar char="•"/>
            </a:pPr>
            <a:r>
              <a:rPr lang="en-US" sz="2600" dirty="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[5] L. Besacier, E. Barnard, A. Karpov, and T. Schultz, "Automatic speech recognition for under-resourced languages: A survey," Speech Communication, vol. 56, pp. 85-100, 2014.</a:t>
            </a:r>
          </a:p>
          <a:p>
            <a:pPr marL="553980" lvl="1" indent="-276990" algn="just">
              <a:lnSpc>
                <a:spcPts val="3600"/>
              </a:lnSpc>
              <a:buFont typeface="Cambria"/>
              <a:buChar char="•"/>
            </a:pPr>
            <a:r>
              <a:rPr lang="en-US" sz="2600" dirty="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[6] MySQL AB, "MySQL 8.0 Reference Manual," Oracle Corporation, [Online]. Available: https://dev.mysql.com/doc/refman/8.0/en/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3938" y="9690621"/>
            <a:ext cx="1103948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160"/>
              </a:lnSpc>
            </a:pPr>
            <a:r>
              <a:rPr lang="en-US" spc="-30" dirty="0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rPr>
              <a:t>08-08-2026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056995" y="9408204"/>
            <a:ext cx="7385685" cy="8118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15"/>
              </a:lnSpc>
            </a:pPr>
            <a:r>
              <a:rPr lang="en-US" sz="27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DEPARTMENT OF COMPUTER ENGINEERING</a:t>
            </a:r>
          </a:p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*Proprietary material of SILVER OAK UNIVERSITY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6994391" y="9690621"/>
            <a:ext cx="327317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59"/>
              </a:lnSpc>
            </a:pPr>
            <a:r>
              <a:rPr lang="en-US" sz="1800" spc="-74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mbria"/>
        <a:ea typeface="Cambria"/>
        <a:cs typeface="Cambria"/>
        <a:font script="Jpan" typeface="Cambria"/>
        <a:font script="Hang" typeface="Cambria"/>
        <a:font script="Hans" typeface="Cambria"/>
        <a:font script="Hant" typeface="Cambria"/>
        <a:font script="Arab" typeface="Cambria"/>
        <a:font script="Hebr" typeface="Cambria"/>
        <a:font script="Thai" typeface="Cambria"/>
        <a:font script="Ethi" typeface="Cambria"/>
        <a:font script="Beng" typeface="Cambria"/>
        <a:font script="Gujr" typeface="Cambria"/>
        <a:font script="Khmr" typeface="Cambria"/>
        <a:font script="Knda" typeface="Cambria"/>
        <a:font script="Guru" typeface="Cambria"/>
        <a:font script="Cans" typeface="Cambria"/>
        <a:font script="Cher" typeface="Cambria"/>
        <a:font script="Yiii" typeface="Cambria"/>
        <a:font script="Tibt" typeface="Cambria"/>
        <a:font script="Thaa" typeface="Cambria"/>
        <a:font script="Deva" typeface="Cambria"/>
        <a:font script="Telu" typeface="Cambria"/>
        <a:font script="Taml" typeface="Cambria"/>
        <a:font script="Syrc" typeface="Cambria"/>
        <a:font script="Orya" typeface="Cambria"/>
        <a:font script="Mlym" typeface="Cambria"/>
        <a:font script="Laoo" typeface="Cambria"/>
        <a:font script="Sinh" typeface="Cambria"/>
        <a:font script="Mong" typeface="Cambria"/>
        <a:font script="Viet" typeface="Cambria"/>
        <a:font script="Uigh" typeface="Cambria"/>
      </a:majorFont>
      <a:minorFont>
        <a:latin typeface="Cambria"/>
        <a:ea typeface="Cambria"/>
        <a:cs typeface="Cambria"/>
        <a:font script="Jpan" typeface="Cambria"/>
        <a:font script="Hang" typeface="Cambria"/>
        <a:font script="Hans" typeface="Cambria"/>
        <a:font script="Hant" typeface="Cambria"/>
        <a:font script="Arab" typeface="Cambria"/>
        <a:font script="Hebr" typeface="Cambria"/>
        <a:font script="Thai" typeface="Cambria"/>
        <a:font script="Ethi" typeface="Cambria"/>
        <a:font script="Beng" typeface="Cambria"/>
        <a:font script="Gujr" typeface="Cambria"/>
        <a:font script="Khmr" typeface="Cambria"/>
        <a:font script="Knda" typeface="Cambria"/>
        <a:font script="Guru" typeface="Cambria"/>
        <a:font script="Cans" typeface="Cambria"/>
        <a:font script="Cher" typeface="Cambria"/>
        <a:font script="Yiii" typeface="Cambria"/>
        <a:font script="Tibt" typeface="Cambria"/>
        <a:font script="Thaa" typeface="Cambria"/>
        <a:font script="Deva" typeface="Cambria"/>
        <a:font script="Telu" typeface="Cambria"/>
        <a:font script="Taml" typeface="Cambria"/>
        <a:font script="Syrc" typeface="Cambria"/>
        <a:font script="Orya" typeface="Cambria"/>
        <a:font script="Mlym" typeface="Cambria"/>
        <a:font script="Laoo" typeface="Cambria"/>
        <a:font script="Sinh" typeface="Cambria"/>
        <a:font script="Mong" typeface="Cambria"/>
        <a:font script="Viet" typeface="Cambria"/>
        <a:font script="Uigh" typeface="Cambri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1098</Words>
  <Application>Microsoft Office PowerPoint</Application>
  <PresentationFormat>Custom</PresentationFormat>
  <Paragraphs>93</Paragraphs>
  <Slides>10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Cambria Bold</vt:lpstr>
      <vt:lpstr>Calibri (MS)</vt:lpstr>
      <vt:lpstr>Times New Roman Bold</vt:lpstr>
      <vt:lpstr>Cambria</vt:lpstr>
      <vt:lpstr>Calibri</vt:lpstr>
      <vt:lpstr>Arial</vt:lpstr>
      <vt:lpstr>Office Theme</vt:lpstr>
      <vt:lpstr>Worksheet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2402030430113_Major Project_review 1.pptx</dc:title>
  <cp:lastModifiedBy>Sandip Prajapati</cp:lastModifiedBy>
  <cp:revision>3</cp:revision>
  <dcterms:created xsi:type="dcterms:W3CDTF">2006-08-16T00:00:00Z</dcterms:created>
  <dcterms:modified xsi:type="dcterms:W3CDTF">2026-08-07T15:41:58Z</dcterms:modified>
  <dc:identifier>DAHRlEUWPXA</dc:identifier>
</cp:coreProperties>
</file>